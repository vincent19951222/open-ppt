
<file path=[Content_Types].xml><?xml version="1.0" encoding="utf-8"?>
<ns0:Types xmlns:ns0="http://schemas.openxmlformats.org/package/2006/content-types">
  <ns0:Default Extension="fntdata" ContentType="application/x-fontdata"/>
  <ns0:Default Extension="rels" ContentType="application/vnd.openxmlformats-package.relationships+xml"/>
  <ns0:Default Extension="xml" ContentType="application/xml"/>
  <ns0:Default Extension="png" ContentType="image/png"/>
  <ns0:Default Extension="jpg" ContentType="image/jpeg"/>
  <ns0:Default Extension="jpeg" ContentType="image/jpeg"/>
  <ns0:Default Extension="gif" ContentType="image/gif"/>
  <ns0:Default Extension="svg" ContentType="image/svg+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</ns0: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embedTrueTypeFonts="1" saveSubsetFonts="1" autoCompressPictures="0">
  <ns0:sldMasterIdLst>
    <ns0:sldMasterId id="2147483648" ns1:id="rId1"/>
  </ns0:sldMasterIdLst>
  <ns0:sldIdLst>
    <ns0:sldId id="256" ns1:id="rId3"/>
    <ns0:sldId id="257" ns1:id="rId4"/>
    <ns0:sldId id="258" ns1:id="rId5"/>
    <ns0:sldId id="259" ns1:id="rId6"/>
  </ns0:sldIdLst>
  <ns0:sldSz cx="12192000" cy="6858000" type="custom"/>
  <ns0:notesSz cx="12192000" cy="6858000"/>
  <ns0:embeddedFontLst>
    <ns0:embeddedFont>
      <ns0:font typeface="MiSans" charset="-122" pitchFamily="34"/>
      <ns0:regular ns1:id="rId21"/>
    </ns0:embeddedFont>
  </ns0:embeddedFontLst>
</ns0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theme" Target="theme/theme1.xml" /><ns0:Relationship Id="rId21" Type="http://schemas.openxmlformats.org/officeDocument/2006/relationships/font" Target="fonts/font1.fntdata" /><ns0:Relationship Id="rId22" Type="http://schemas.openxmlformats.org/officeDocument/2006/relationships/presProps" Target="presProps.xml" /><ns0:Relationship Id="rId23" Type="http://schemas.openxmlformats.org/officeDocument/2006/relationships/viewProps" Target="viewProps.xml" /><ns0:Relationship Id="rId24" Type="http://schemas.openxmlformats.org/officeDocument/2006/relationships/tableStyles" Target="tableStyles.xml" /><ns0:Relationship Id="rId3" Type="http://schemas.openxmlformats.org/officeDocument/2006/relationships/slide" Target="slides/slide1.xml" /><ns0:Relationship Id="rId4" Type="http://schemas.openxmlformats.org/officeDocument/2006/relationships/slide" Target="slides/slide2.xml" /><ns0:Relationship Id="rId5" Type="http://schemas.openxmlformats.org/officeDocument/2006/relationships/slide" Target="slides/slide3.xml" /><ns0:Relationship Id="rId6" Type="http://schemas.openxmlformats.org/officeDocument/2006/relationships/slide" Target="slides/slide4.xml" /></ns0: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Img_1" Type="http://schemas.openxmlformats.org/officeDocument/2006/relationships/image" Target="../media/mindray-lockup-wide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Img_1" Type="http://schemas.openxmlformats.org/officeDocument/2006/relationships/image" Target="../media/mindray-lockup-wide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Img_1" Type="http://schemas.openxmlformats.org/officeDocument/2006/relationships/image" Target="../media/mindray-lockup-wide.png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nd"/>
          <p:cNvSpPr txBox="0"/>
          <p:nvPr/>
        </p:nvSpPr>
        <p:spPr>
          <a:xfrm>
            <a:off x="0" y="5969000"/>
            <a:ext cx="12192000" cy="889000"/>
          </a:xfrm>
          <a:prstGeom prst="rect">
            <a:avLst/>
          </a:prstGeom>
          <a:solidFill>
            <a:srgbClr val="8F0C20"/>
          </a:solidFill>
          <a:ln>
            <a:noFill/>
          </a:ln>
        </p:spPr>
      </p:sp>
      <p:sp>
        <p:nvSpPr>
          <p:cNvPr id="3" name="cover-rule"/>
          <p:cNvSpPr txBox="0"/>
          <p:nvPr/>
        </p:nvSpPr>
        <p:spPr>
          <a:xfrm>
            <a:off x="812800" y="2235200"/>
            <a:ext cx="8128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cover-title"/>
          <p:cNvSpPr txBox="1"/>
          <p:nvPr/>
        </p:nvSpPr>
        <p:spPr>
          <a:xfrm>
            <a:off x="812800" y="2540000"/>
            <a:ext cx="9652000" cy="9652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5600" b="1">
                <a:solidFill>
                  <a:srgbClr val="FFFFFF"/>
                </a:solidFill>
                <a:latin typeface="Segoe UI"/>
                <a:ea typeface="Microsoft YaHei"/>
              </a:rPr>
              <a:t>迈瑞医疗</a:t>
            </a:r>
          </a:p>
        </p:txBody>
      </p:sp>
      <p:sp>
        <p:nvSpPr>
          <p:cNvPr id="5" name="cover-subtitle"/>
          <p:cNvSpPr txBox="1"/>
          <p:nvPr/>
        </p:nvSpPr>
        <p:spPr>
          <a:xfrm>
            <a:off x="812800" y="3657600"/>
            <a:ext cx="9652000" cy="3556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2000" b="0">
                <a:solidFill>
                  <a:srgbClr val="FFFFFF"/>
                </a:solidFill>
                <a:latin typeface="Segoe UI"/>
                <a:ea typeface="Microsoft YaHei"/>
              </a:rPr>
              <a:t>全球领先的医疗器械与解决方案供应商</a:t>
            </a:r>
          </a:p>
        </p:txBody>
      </p:sp>
      <p:sp>
        <p:nvSpPr>
          <p:cNvPr id="6" name="cover-tagline"/>
          <p:cNvSpPr txBox="1"/>
          <p:nvPr/>
        </p:nvSpPr>
        <p:spPr>
          <a:xfrm>
            <a:off x="812800" y="41910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200" b="0">
                <a:solidFill>
                  <a:srgbClr val="FFFFFF">
                    <a:alpha val="80000"/>
                  </a:srgbClr>
                </a:solidFill>
                <a:latin typeface="Segoe UI"/>
                <a:ea typeface="Microsoft YaHei"/>
              </a:rPr>
              <a:t>生命信息与支持 · 体外诊断 · 医学影像</a:t>
            </a:r>
          </a:p>
        </p:txBody>
      </p:sp>
      <p:sp>
        <p:nvSpPr>
          <p:cNvPr id="7" name="cover-date"/>
          <p:cNvSpPr txBox="1"/>
          <p:nvPr/>
        </p:nvSpPr>
        <p:spPr>
          <a:xfrm>
            <a:off x="812800" y="6248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100" b="0">
                <a:solidFill>
                  <a:srgbClr val="FFFFFF"/>
                </a:solidFill>
                <a:latin typeface="Segoe UI"/>
                <a:ea typeface="Microsoft YaHei"/>
              </a:rPr>
              <a:t>2026 · 公司介绍</a:t>
            </a:r>
          </a:p>
        </p:txBody>
      </p:sp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3" presetClass="entr" presetSubtype="16" decel="10000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6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600"/>
                      </p:stCondLst>
                      <p:childTnLst>
                        <p:par>
                          <p:cTn id="8" presetID="2" presetClass="entr" presetSubtype="4" decel="100000" fill="hold" grpId="1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50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grpId="2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1" animBg="1"/>
      <p:bldP spid="6" grpId="2" animBg="1"/>
    </p:bld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marker"/>
          <p:cNvSpPr txBox="1"/>
          <p:nvPr/>
        </p:nvSpPr>
        <p:spPr>
          <a:xfrm>
            <a:off x="609600" y="381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2000" b="1">
                <a:solidFill>
                  <a:srgbClr val="C8102E"/>
                </a:solidFill>
                <a:latin typeface="Segoe UI"/>
                <a:ea typeface="Microsoft YaHei"/>
              </a:rPr>
              <a:t>❯</a:t>
            </a:r>
          </a:p>
        </p:txBody>
      </p:sp>
      <p:sp>
        <p:nvSpPr>
          <p:cNvPr id="3" name="hd-title"/>
          <p:cNvSpPr txBox="1"/>
          <p:nvPr/>
        </p:nvSpPr>
        <p:spPr>
          <a:xfrm>
            <a:off x="914400" y="381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2400" b="1">
                <a:solidFill>
                  <a:srgbClr val="C8102E"/>
                </a:solidFill>
                <a:latin typeface="Segoe UI"/>
                <a:ea typeface="Microsoft YaHei"/>
              </a:rPr>
              <a:t>三大业务板块构成全球化医疗器械平台</a:t>
            </a:r>
          </a:p>
        </p:txBody>
      </p:sp>
      <p:sp>
        <p:nvSpPr>
          <p:cNvPr id="4" name="hd-subtitle"/>
          <p:cNvSpPr txBox="1"/>
          <p:nvPr/>
        </p:nvSpPr>
        <p:spPr>
          <a:xfrm>
            <a:off x="914400" y="7874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100" b="0">
                <a:solidFill>
                  <a:srgbClr val="595959"/>
                </a:solidFill>
                <a:latin typeface="Segoe UI"/>
                <a:ea typeface="Microsoft YaHei"/>
              </a:rPr>
              <a:t>覆盖生命信息与支持、体外诊断、医学影像三大领域的科室级整体方案</a:t>
            </a:r>
          </a:p>
        </p:txBody>
      </p:sp>
      <p:sp>
        <p:nvSpPr>
          <p:cNvPr id="5" name="hd-rule"/>
          <p:cNvSpPr txBox="0"/>
          <p:nvPr/>
        </p:nvSpPr>
        <p:spPr>
          <a:xfrm>
            <a:off x="609600" y="1143000"/>
            <a:ext cx="109728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6" name="card-1"/>
          <p:cNvSpPr txBox="0"/>
          <p:nvPr/>
        </p:nvSpPr>
        <p:spPr>
          <a:xfrm>
            <a:off x="609600" y="1397000"/>
            <a:ext cx="2235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7" name="card-1-icon"/>
          <p:cNvSpPr txBox="0"/>
          <p:nvPr/>
        </p:nvSpPr>
        <p:spPr>
          <a:xfrm>
            <a:off x="812800" y="1600200"/>
            <a:ext cx="355600" cy="355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lIns="0" rIns="0" tIns="0" bIns="0" wrap="none" anchor="ctr"/>
          <a:lstStyle/>
          <a:p>
            <a:pPr algn="ctr"/>
            <a:r>
              <a:rPr sz="1800" b="1">
                <a:solidFill>
                  <a:srgbClr val="C8102E"/>
                </a:solidFill>
                <a:latin typeface="Segoe UI Symbol"/>
                <a:ea typeface="Segoe UI Symbol"/>
              </a:rPr>
              <a:t>♥</a:t>
            </a:r>
          </a:p>
        </p:txBody>
      </p:sp>
      <p:sp>
        <p:nvSpPr>
          <p:cNvPr id="8" name="card-1-title"/>
          <p:cNvSpPr txBox="1"/>
          <p:nvPr/>
        </p:nvSpPr>
        <p:spPr>
          <a:xfrm>
            <a:off x="812800" y="20574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400" b="1">
                <a:solidFill>
                  <a:srgbClr val="C8102E"/>
                </a:solidFill>
                <a:latin typeface="Segoe UI"/>
                <a:ea typeface="Microsoft YaHei"/>
              </a:rPr>
              <a:t>生命信息与支持</a:t>
            </a:r>
          </a:p>
        </p:txBody>
      </p:sp>
      <p:sp>
        <p:nvSpPr>
          <p:cNvPr id="9" name="card-1-en"/>
          <p:cNvSpPr txBox="1"/>
          <p:nvPr/>
        </p:nvSpPr>
        <p:spPr>
          <a:xfrm>
            <a:off x="812800" y="2336800"/>
            <a:ext cx="1828800" cy="177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PMLS</a:t>
            </a:r>
          </a:p>
        </p:txBody>
      </p:sp>
      <p:sp>
        <p:nvSpPr>
          <p:cNvPr id="10" name="card-1-body"/>
          <p:cNvSpPr txBox="1"/>
          <p:nvPr/>
        </p:nvSpPr>
        <p:spPr>
          <a:xfrm>
            <a:off x="812800" y="25908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监护仪、麻醉机、呼吸机、除颤仪等重症与围术期核心设备</a:t>
            </a:r>
          </a:p>
        </p:txBody>
      </p:sp>
      <p:sp>
        <p:nvSpPr>
          <p:cNvPr id="11" name="card-2"/>
          <p:cNvSpPr txBox="0"/>
          <p:nvPr/>
        </p:nvSpPr>
        <p:spPr>
          <a:xfrm>
            <a:off x="2997200" y="1397000"/>
            <a:ext cx="2235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2" name="card-2-icon"/>
          <p:cNvSpPr txBox="0"/>
          <p:nvPr/>
        </p:nvSpPr>
        <p:spPr>
          <a:xfrm>
            <a:off x="3200400" y="1600200"/>
            <a:ext cx="355600" cy="355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lIns="0" rIns="0" tIns="0" bIns="0" wrap="none" anchor="ctr"/>
          <a:lstStyle/>
          <a:p>
            <a:pPr algn="ctr"/>
            <a:r>
              <a:rPr sz="1800" b="1">
                <a:solidFill>
                  <a:srgbClr val="C8102E"/>
                </a:solidFill>
                <a:latin typeface="Segoe UI Symbol"/>
                <a:ea typeface="Segoe UI Symbol"/>
              </a:rPr>
              <a:t>🧪</a:t>
            </a:r>
          </a:p>
        </p:txBody>
      </p:sp>
      <p:sp>
        <p:nvSpPr>
          <p:cNvPr id="13" name="card-2-title"/>
          <p:cNvSpPr txBox="1"/>
          <p:nvPr/>
        </p:nvSpPr>
        <p:spPr>
          <a:xfrm>
            <a:off x="3200400" y="20574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400" b="1">
                <a:solidFill>
                  <a:srgbClr val="C8102E"/>
                </a:solidFill>
                <a:latin typeface="Segoe UI"/>
                <a:ea typeface="Microsoft YaHei"/>
              </a:rPr>
              <a:t>体外诊断</a:t>
            </a:r>
          </a:p>
        </p:txBody>
      </p:sp>
      <p:sp>
        <p:nvSpPr>
          <p:cNvPr id="14" name="card-2-en"/>
          <p:cNvSpPr txBox="1"/>
          <p:nvPr/>
        </p:nvSpPr>
        <p:spPr>
          <a:xfrm>
            <a:off x="3200400" y="2336800"/>
            <a:ext cx="1828800" cy="177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IVD</a:t>
            </a:r>
          </a:p>
        </p:txBody>
      </p:sp>
      <p:sp>
        <p:nvSpPr>
          <p:cNvPr id="15" name="card-2-body"/>
          <p:cNvSpPr txBox="1"/>
          <p:nvPr/>
        </p:nvSpPr>
        <p:spPr>
          <a:xfrm>
            <a:off x="3200400" y="25908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血液、生化、免疫、凝血等实验室诊断仪器与配套试剂</a:t>
            </a:r>
          </a:p>
        </p:txBody>
      </p:sp>
      <p:sp>
        <p:nvSpPr>
          <p:cNvPr id="16" name="card-3"/>
          <p:cNvSpPr txBox="0"/>
          <p:nvPr/>
        </p:nvSpPr>
        <p:spPr>
          <a:xfrm>
            <a:off x="5384800" y="1397000"/>
            <a:ext cx="2235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7" name="card-3-icon"/>
          <p:cNvSpPr txBox="0"/>
          <p:nvPr/>
        </p:nvSpPr>
        <p:spPr>
          <a:xfrm>
            <a:off x="5588000" y="1600200"/>
            <a:ext cx="355600" cy="355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lIns="0" rIns="0" tIns="0" bIns="0" wrap="none" anchor="ctr"/>
          <a:lstStyle/>
          <a:p>
            <a:pPr algn="ctr"/>
            <a:r>
              <a:rPr sz="1800" b="1">
                <a:solidFill>
                  <a:srgbClr val="C8102E"/>
                </a:solidFill>
                <a:latin typeface="Segoe UI Symbol"/>
                <a:ea typeface="Segoe UI Symbol"/>
              </a:rPr>
              <a:t>🔬</a:t>
            </a:r>
          </a:p>
        </p:txBody>
      </p:sp>
      <p:sp>
        <p:nvSpPr>
          <p:cNvPr id="18" name="card-3-title"/>
          <p:cNvSpPr txBox="1"/>
          <p:nvPr/>
        </p:nvSpPr>
        <p:spPr>
          <a:xfrm>
            <a:off x="5588000" y="2057400"/>
            <a:ext cx="1828800" cy="254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400" b="1">
                <a:solidFill>
                  <a:srgbClr val="C8102E"/>
                </a:solidFill>
                <a:latin typeface="Segoe UI"/>
                <a:ea typeface="Microsoft YaHei"/>
              </a:rPr>
              <a:t>医学影像</a:t>
            </a:r>
          </a:p>
        </p:txBody>
      </p:sp>
      <p:sp>
        <p:nvSpPr>
          <p:cNvPr id="19" name="card-3-en"/>
          <p:cNvSpPr txBox="1"/>
          <p:nvPr/>
        </p:nvSpPr>
        <p:spPr>
          <a:xfrm>
            <a:off x="5588000" y="2336800"/>
            <a:ext cx="1828800" cy="177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MIS</a:t>
            </a:r>
          </a:p>
        </p:txBody>
      </p:sp>
      <p:sp>
        <p:nvSpPr>
          <p:cNvPr id="20" name="card-3-body"/>
          <p:cNvSpPr txBox="1"/>
          <p:nvPr/>
        </p:nvSpPr>
        <p:spPr>
          <a:xfrm>
            <a:off x="5588000" y="25908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超声影像系统与数字化 X 射线（DR）等影像诊断设备</a:t>
            </a:r>
          </a:p>
        </p:txBody>
      </p:sp>
      <p:sp>
        <p:nvSpPr>
          <p:cNvPr id="21" name="side-panel"/>
          <p:cNvSpPr txBox="0"/>
          <p:nvPr/>
        </p:nvSpPr>
        <p:spPr>
          <a:xfrm>
            <a:off x="7924800" y="1397000"/>
            <a:ext cx="3657600" cy="2286000"/>
          </a:xfrm>
          <a:prstGeom prst="rect">
            <a:avLst/>
          </a:prstGeom>
          <a:solidFill>
            <a:srgbClr val="F5F7F8"/>
          </a:solidFill>
          <a:ln>
            <a:noFill/>
          </a:ln>
        </p:spPr>
      </p:sp>
      <p:sp>
        <p:nvSpPr>
          <p:cNvPr id="22" name="side-title"/>
          <p:cNvSpPr txBox="1"/>
          <p:nvPr/>
        </p:nvSpPr>
        <p:spPr>
          <a:xfrm>
            <a:off x="8128000" y="1549400"/>
            <a:ext cx="3251200" cy="254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300" b="1">
                <a:solidFill>
                  <a:srgbClr val="C8102E"/>
                </a:solidFill>
                <a:latin typeface="Segoe UI"/>
                <a:ea typeface="Microsoft YaHei"/>
              </a:rPr>
              <a:t>平台要点</a:t>
            </a:r>
          </a:p>
        </p:txBody>
      </p:sp>
      <p:sp>
        <p:nvSpPr>
          <p:cNvPr id="23" name="side-body"/>
          <p:cNvSpPr txBox="1"/>
          <p:nvPr/>
        </p:nvSpPr>
        <p:spPr>
          <a:xfrm>
            <a:off x="8128000" y="1879600"/>
            <a:ext cx="3251200" cy="1651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• 成立于 1991 年，总部位于深圳</a:t>
            </a:r>
          </a:p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• 产品与服务覆盖全球 190 多个国家和地区</a:t>
            </a:r>
          </a:p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• 中国医疗器械行业的代表性龙头企业</a:t>
            </a:r>
          </a:p>
        </p:txBody>
      </p:sp>
      <p:sp>
        <p:nvSpPr>
          <p:cNvPr id="24" name="takeaway-bar"/>
          <p:cNvSpPr txBox="0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5" name="takeaway-text"/>
          <p:cNvSpPr txBox="1"/>
          <p:nvPr/>
        </p:nvSpPr>
        <p:spPr>
          <a:xfrm>
            <a:off x="914400" y="57404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100" b="1">
                <a:solidFill>
                  <a:srgbClr val="C8102E"/>
                </a:solidFill>
                <a:latin typeface="Segoe UI"/>
                <a:ea typeface="Microsoft YaHei"/>
              </a:rPr>
              <a:t>❯ </a:t>
            </a:r>
            <a:r>
              <a:rPr lang="zh-CN" altLang="en-US" sz="1100" b="0">
                <a:solidFill>
                  <a:srgbClr val="1A1A1A"/>
                </a:solidFill>
                <a:latin typeface="Segoe UI"/>
                <a:ea typeface="Microsoft YaHei"/>
              </a:rPr>
              <a:t>三大板块共享研发、制造与渠道体系，支撑科室级"设备 + 试剂 + 信息化"整体解决方案</a:t>
            </a:r>
          </a:p>
        </p:txBody>
      </p:sp>
      <p:sp>
        <p:nvSpPr>
          <p:cNvPr id="26" name="ft-source"/>
          <p:cNvSpPr txBox="1"/>
          <p:nvPr/>
        </p:nvSpPr>
        <p:spPr>
          <a:xfrm>
            <a:off x="609600" y="6502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资料来源：迈瑞医疗公开资料及公司官网</a:t>
            </a:r>
          </a:p>
        </p:txBody>
      </p:sp>
      <p:sp>
        <p:nvSpPr>
          <p:cNvPr id="27" name="ft-pagenum"/>
          <p:cNvSpPr txBox="1"/>
          <p:nvPr/>
        </p:nvSpPr>
        <p:spPr>
          <a:xfrm>
            <a:off x="9347200" y="65024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r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02 / 04</a:t>
            </a:r>
          </a:p>
        </p:txBody>
      </p:sp>
      <p:pic>
        <p:nvPicPr>
          <p:cNvPr id="28" name="ft-logo"/>
          <p:cNvPicPr/>
          <p:nvPr/>
        </p:nvPicPr>
        <p:blipFill>
          <a:blip r:embed="rIdImg_1"/>
          <a:stretch>
            <a:fillRect/>
          </a:stretch>
        </p:blipFill>
        <p:spPr>
          <a:xfrm>
            <a:off x="10312400" y="6388100"/>
            <a:ext cx="1320800" cy="2921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4" decel="10000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4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20"/>
                      </p:stCondLst>
                      <p:childTnLst>
                        <p:par>
                          <p:cTn id="8" presetID="2" presetClass="entr" presetSubtype="4" decel="100000" fill="hold" grpId="1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40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240"/>
                      </p:stCondLst>
                      <p:childTnLst>
                        <p:par>
                          <p:cTn id="12" presetID="2" presetClass="entr" presetSubtype="4" decel="100000" fill="hold" grpId="2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" dur="4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400"/>
                      </p:stCondLst>
                      <p:childTnLst>
                        <p:par>
                          <p:cTn id="16" presetID="10" presetClass="entr" presetSubtype="0" fill="hold" grpId="3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850"/>
                      </p:stCondLst>
                      <p:childTnLst>
                        <p:par>
                          <p:cTn id="20" presetID="10" presetClass="entr" presetSubtype="0" fill="hold" grpId="4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1" animBg="1"/>
      <p:bldP spid="16" grpId="2" animBg="1"/>
      <p:bldP spid="21" grpId="3" animBg="1"/>
      <p:bldP spid="24" grpId="4" animBg="1"/>
    </p:bld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marker"/>
          <p:cNvSpPr txBox="1"/>
          <p:nvPr/>
        </p:nvSpPr>
        <p:spPr>
          <a:xfrm>
            <a:off x="609600" y="381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2000" b="1">
                <a:solidFill>
                  <a:srgbClr val="C8102E"/>
                </a:solidFill>
                <a:latin typeface="Segoe UI"/>
                <a:ea typeface="Microsoft YaHei"/>
              </a:rPr>
              <a:t>❯</a:t>
            </a:r>
          </a:p>
        </p:txBody>
      </p:sp>
      <p:sp>
        <p:nvSpPr>
          <p:cNvPr id="3" name="hd-title"/>
          <p:cNvSpPr txBox="1"/>
          <p:nvPr/>
        </p:nvSpPr>
        <p:spPr>
          <a:xfrm>
            <a:off x="914400" y="381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2400" b="1">
                <a:solidFill>
                  <a:srgbClr val="C8102E"/>
                </a:solidFill>
                <a:latin typeface="Segoe UI"/>
                <a:ea typeface="Microsoft YaHei"/>
              </a:rPr>
              <a:t>三十余年完成从单品突破到全球平台的跨越</a:t>
            </a:r>
          </a:p>
        </p:txBody>
      </p:sp>
      <p:sp>
        <p:nvSpPr>
          <p:cNvPr id="4" name="hd-subtitle"/>
          <p:cNvSpPr txBox="1"/>
          <p:nvPr/>
        </p:nvSpPr>
        <p:spPr>
          <a:xfrm>
            <a:off x="914400" y="7874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100" b="0">
                <a:solidFill>
                  <a:srgbClr val="595959"/>
                </a:solidFill>
                <a:latin typeface="Segoe UI"/>
                <a:ea typeface="Microsoft YaHei"/>
              </a:rPr>
              <a:t>关键发展里程碑（红色 = 已完成阶段，灰色 = 进行中的新阶段）</a:t>
            </a:r>
          </a:p>
        </p:txBody>
      </p:sp>
      <p:sp>
        <p:nvSpPr>
          <p:cNvPr id="5" name="hd-rule"/>
          <p:cNvSpPr txBox="0"/>
          <p:nvPr/>
        </p:nvSpPr>
        <p:spPr>
          <a:xfrm>
            <a:off x="609600" y="1143000"/>
            <a:ext cx="109728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6" name="step-1"/>
          <p:cNvSpPr txBox="0"/>
          <p:nvPr/>
        </p:nvSpPr>
        <p:spPr>
          <a:xfrm>
            <a:off x="609600" y="1778000"/>
            <a:ext cx="2235200" cy="609600"/>
          </a:xfrm>
          <a:prstGeom prst="chevron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7" name="step-1-text"/>
          <p:cNvSpPr txBox="1"/>
          <p:nvPr/>
        </p:nvSpPr>
        <p:spPr>
          <a:xfrm>
            <a:off x="711200" y="1778000"/>
            <a:ext cx="2032000" cy="6096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Segoe UI"/>
                <a:ea typeface="Microsoft YaHei"/>
              </a:rPr>
              <a:t>1991 深圳创立</a:t>
            </a:r>
          </a:p>
        </p:txBody>
      </p:sp>
      <p:sp>
        <p:nvSpPr>
          <p:cNvPr id="8" name="step-2"/>
          <p:cNvSpPr txBox="0"/>
          <p:nvPr/>
        </p:nvSpPr>
        <p:spPr>
          <a:xfrm>
            <a:off x="2768600" y="1778000"/>
            <a:ext cx="2235200" cy="609600"/>
          </a:xfrm>
          <a:prstGeom prst="chevron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9" name="step-2-text"/>
          <p:cNvSpPr txBox="1"/>
          <p:nvPr/>
        </p:nvSpPr>
        <p:spPr>
          <a:xfrm>
            <a:off x="2921000" y="1778000"/>
            <a:ext cx="2032000" cy="6096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Segoe UI"/>
                <a:ea typeface="Microsoft YaHei"/>
              </a:rPr>
              <a:t>1990s 自研突破</a:t>
            </a:r>
          </a:p>
        </p:txBody>
      </p:sp>
      <p:sp>
        <p:nvSpPr>
          <p:cNvPr id="10" name="step-3"/>
          <p:cNvSpPr txBox="0"/>
          <p:nvPr/>
        </p:nvSpPr>
        <p:spPr>
          <a:xfrm>
            <a:off x="4927600" y="1778000"/>
            <a:ext cx="2235200" cy="609600"/>
          </a:xfrm>
          <a:prstGeom prst="chevron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11" name="step-3-text"/>
          <p:cNvSpPr txBox="1"/>
          <p:nvPr/>
        </p:nvSpPr>
        <p:spPr>
          <a:xfrm>
            <a:off x="5080000" y="1778000"/>
            <a:ext cx="2032000" cy="6096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Segoe UI"/>
                <a:ea typeface="Microsoft YaHei"/>
              </a:rPr>
              <a:t>2006 纽交所上市</a:t>
            </a:r>
          </a:p>
        </p:txBody>
      </p:sp>
      <p:sp>
        <p:nvSpPr>
          <p:cNvPr id="12" name="step-4"/>
          <p:cNvSpPr txBox="0"/>
          <p:nvPr/>
        </p:nvSpPr>
        <p:spPr>
          <a:xfrm>
            <a:off x="7086600" y="1778000"/>
            <a:ext cx="2235200" cy="609600"/>
          </a:xfrm>
          <a:prstGeom prst="chevron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13" name="step-4-text"/>
          <p:cNvSpPr txBox="1"/>
          <p:nvPr/>
        </p:nvSpPr>
        <p:spPr>
          <a:xfrm>
            <a:off x="7239000" y="1778000"/>
            <a:ext cx="2032000" cy="6096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Segoe UI"/>
                <a:ea typeface="Microsoft YaHei"/>
              </a:rPr>
              <a:t>2018 创业板上市</a:t>
            </a:r>
          </a:p>
        </p:txBody>
      </p:sp>
      <p:sp>
        <p:nvSpPr>
          <p:cNvPr id="14" name="step-5"/>
          <p:cNvSpPr txBox="0"/>
          <p:nvPr/>
        </p:nvSpPr>
        <p:spPr>
          <a:xfrm>
            <a:off x="9245600" y="1778000"/>
            <a:ext cx="2235200" cy="609600"/>
          </a:xfrm>
          <a:prstGeom prst="chevron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5" name="step-5-text"/>
          <p:cNvSpPr txBox="1"/>
          <p:nvPr/>
        </p:nvSpPr>
        <p:spPr>
          <a:xfrm>
            <a:off x="9398000" y="1778000"/>
            <a:ext cx="2032000" cy="6096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ctr"/>
            <a:r>
              <a:rPr lang="zh-CN" altLang="en-US" sz="1100" b="1">
                <a:solidFill>
                  <a:srgbClr val="595959"/>
                </a:solidFill>
                <a:latin typeface="Segoe UI"/>
                <a:ea typeface="Microsoft YaHei"/>
              </a:rPr>
              <a:t>未来 数智化生态</a:t>
            </a:r>
          </a:p>
        </p:txBody>
      </p:sp>
      <p:sp>
        <p:nvSpPr>
          <p:cNvPr id="16" name="step-1-desc"/>
          <p:cNvSpPr txBox="1"/>
          <p:nvPr/>
        </p:nvSpPr>
        <p:spPr>
          <a:xfrm>
            <a:off x="711200" y="25400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成立于深圳，从代理起步转向自主研发</a:t>
            </a:r>
          </a:p>
        </p:txBody>
      </p:sp>
      <p:sp>
        <p:nvSpPr>
          <p:cNvPr id="17" name="step-2-desc"/>
          <p:cNvSpPr txBox="1"/>
          <p:nvPr/>
        </p:nvSpPr>
        <p:spPr>
          <a:xfrm>
            <a:off x="2921000" y="25400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推出自主研发监护仪，打破进口垄断</a:t>
            </a:r>
          </a:p>
        </p:txBody>
      </p:sp>
      <p:sp>
        <p:nvSpPr>
          <p:cNvPr id="18" name="step-3-desc"/>
          <p:cNvSpPr txBox="1"/>
          <p:nvPr/>
        </p:nvSpPr>
        <p:spPr>
          <a:xfrm>
            <a:off x="5130800" y="25400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首家在美国上市的中国医疗器械企业</a:t>
            </a:r>
          </a:p>
        </p:txBody>
      </p:sp>
      <p:sp>
        <p:nvSpPr>
          <p:cNvPr id="19" name="step-4-desc"/>
          <p:cNvSpPr txBox="1"/>
          <p:nvPr/>
        </p:nvSpPr>
        <p:spPr>
          <a:xfrm>
            <a:off x="7289800" y="25400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登陆深交所创业板，市值居行业前列</a:t>
            </a:r>
          </a:p>
        </p:txBody>
      </p:sp>
      <p:sp>
        <p:nvSpPr>
          <p:cNvPr id="20" name="step-5-desc"/>
          <p:cNvSpPr txBox="1"/>
          <p:nvPr/>
        </p:nvSpPr>
        <p:spPr>
          <a:xfrm>
            <a:off x="9448800" y="25400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瑞智联、瑞影云、迈瑞智检，设备+IT+AI</a:t>
            </a:r>
          </a:p>
        </p:txBody>
      </p:sp>
      <p:sp>
        <p:nvSpPr>
          <p:cNvPr id="21" name="note-1"/>
          <p:cNvSpPr txBox="0"/>
          <p:nvPr/>
        </p:nvSpPr>
        <p:spPr>
          <a:xfrm>
            <a:off x="609600" y="3708400"/>
            <a:ext cx="5384800" cy="1219200"/>
          </a:xfrm>
          <a:prstGeom prst="rect">
            <a:avLst/>
          </a:prstGeom>
          <a:solidFill>
            <a:srgbClr val="F5F7F8"/>
          </a:solidFill>
          <a:ln>
            <a:noFill/>
          </a:ln>
        </p:spPr>
      </p:sp>
      <p:sp>
        <p:nvSpPr>
          <p:cNvPr id="22" name="note-1-text"/>
          <p:cNvSpPr txBox="1"/>
          <p:nvPr/>
        </p:nvSpPr>
        <p:spPr>
          <a:xfrm>
            <a:off x="812800" y="3860800"/>
            <a:ext cx="4978400" cy="9144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1200" b="1">
                <a:solidFill>
                  <a:srgbClr val="C8102E"/>
                </a:solidFill>
                <a:latin typeface="Segoe UI"/>
                <a:ea typeface="Microsoft YaHei"/>
              </a:rPr>
              <a:t>国际化路径</a:t>
            </a:r>
          </a:p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通过并购 Datascope 监护业务、Zonare 超声等进入欧美主流市场，海外收入占比持续提升</a:t>
            </a:r>
          </a:p>
        </p:txBody>
      </p:sp>
      <p:sp>
        <p:nvSpPr>
          <p:cNvPr id="23" name="note-2"/>
          <p:cNvSpPr txBox="0"/>
          <p:nvPr/>
        </p:nvSpPr>
        <p:spPr>
          <a:xfrm>
            <a:off x="6197600" y="3708400"/>
            <a:ext cx="5384800" cy="1219200"/>
          </a:xfrm>
          <a:prstGeom prst="rect">
            <a:avLst/>
          </a:prstGeom>
          <a:solidFill>
            <a:srgbClr val="F5F7F8"/>
          </a:solidFill>
          <a:ln>
            <a:noFill/>
          </a:ln>
        </p:spPr>
      </p:sp>
      <p:sp>
        <p:nvSpPr>
          <p:cNvPr id="24" name="note-2-text"/>
          <p:cNvSpPr txBox="1"/>
          <p:nvPr/>
        </p:nvSpPr>
        <p:spPr>
          <a:xfrm>
            <a:off x="6400800" y="3860800"/>
            <a:ext cx="4978400" cy="9144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1200" b="1">
                <a:solidFill>
                  <a:srgbClr val="C8102E"/>
                </a:solidFill>
                <a:latin typeface="Segoe UI"/>
                <a:ea typeface="Microsoft YaHei"/>
              </a:rPr>
              <a:t>高端化路径</a:t>
            </a:r>
          </a:p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高端监护、超声与化学发光产品进入海外高端医院，国内市场持续实现进口替代</a:t>
            </a:r>
          </a:p>
        </p:txBody>
      </p:sp>
      <p:sp>
        <p:nvSpPr>
          <p:cNvPr id="25" name="takeaway-bar"/>
          <p:cNvSpPr txBox="0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6" name="takeaway-text"/>
          <p:cNvSpPr txBox="1"/>
          <p:nvPr/>
        </p:nvSpPr>
        <p:spPr>
          <a:xfrm>
            <a:off x="914400" y="57404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100" b="1">
                <a:solidFill>
                  <a:srgbClr val="C8102E"/>
                </a:solidFill>
                <a:latin typeface="Segoe UI"/>
                <a:ea typeface="Microsoft YaHei"/>
              </a:rPr>
              <a:t>❯ </a:t>
            </a:r>
            <a:r>
              <a:rPr lang="zh-CN" altLang="en-US" sz="1100" b="0">
                <a:solidFill>
                  <a:srgbClr val="1A1A1A"/>
                </a:solidFill>
                <a:latin typeface="Segoe UI"/>
                <a:ea typeface="Microsoft YaHei"/>
              </a:rPr>
              <a:t>每一步跨越围绕同一主线：让优质医疗科技更可及</a:t>
            </a:r>
          </a:p>
        </p:txBody>
      </p:sp>
      <p:sp>
        <p:nvSpPr>
          <p:cNvPr id="27" name="ft-source"/>
          <p:cNvSpPr txBox="1"/>
          <p:nvPr/>
        </p:nvSpPr>
        <p:spPr>
          <a:xfrm>
            <a:off x="609600" y="6502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资料来源：迈瑞医疗公开资料及公司官网</a:t>
            </a:r>
          </a:p>
        </p:txBody>
      </p:sp>
      <p:sp>
        <p:nvSpPr>
          <p:cNvPr id="28" name="ft-pagenum"/>
          <p:cNvSpPr txBox="1"/>
          <p:nvPr/>
        </p:nvSpPr>
        <p:spPr>
          <a:xfrm>
            <a:off x="9347200" y="65024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r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03 / 04</a:t>
            </a:r>
          </a:p>
        </p:txBody>
      </p:sp>
      <p:pic>
        <p:nvPicPr>
          <p:cNvPr id="29" name="ft-logo"/>
          <p:cNvPicPr/>
          <p:nvPr/>
        </p:nvPicPr>
        <p:blipFill>
          <a:blip r:embed="rIdImg_1"/>
          <a:stretch>
            <a:fillRect/>
          </a:stretch>
        </p:blipFill>
        <p:spPr>
          <a:xfrm>
            <a:off x="10312400" y="6388100"/>
            <a:ext cx="1320800" cy="2921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4" decel="10000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3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350"/>
                      </p:stCondLst>
                      <p:childTnLst>
                        <p:par>
                          <p:cTn id="8" presetID="2" presetClass="entr" presetSubtype="4" decel="100000" fill="hold" grpId="1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3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700"/>
                      </p:stCondLst>
                      <p:childTnLst>
                        <p:par>
                          <p:cTn id="12" presetID="2" presetClass="entr" presetSubtype="4" decel="100000" fill="hold" grpId="2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" dur="3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050"/>
                      </p:stCondLst>
                      <p:childTnLst>
                        <p:par>
                          <p:cTn id="16" presetID="2" presetClass="entr" presetSubtype="4" decel="100000" fill="hold" grpId="3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8" dur="3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1400"/>
                      </p:stCondLst>
                      <p:childTnLst>
                        <p:par>
                          <p:cTn id="20" presetID="2" presetClass="entr" presetSubtype="4" decel="100000" fill="hold" grpId="4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22" dur="3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750"/>
                      </p:stCondLst>
                      <p:childTnLst>
                        <p:par>
                          <p:cTn id="24" presetID="10" presetClass="entr" presetSubtype="0" fill="hold" grpId="5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150"/>
                      </p:stCondLst>
                      <p:childTnLst>
                        <p:par>
                          <p:cTn id="28" presetID="10" presetClass="entr" presetSubtype="0" fill="hold" grpId="6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1" animBg="1"/>
      <p:bldP spid="10" grpId="2" animBg="1"/>
      <p:bldP spid="12" grpId="3" animBg="1"/>
      <p:bldP spid="14" grpId="4" animBg="1"/>
      <p:bldP spid="21" grpId="5" animBg="1"/>
      <p:bldP spid="23" grpId="6" animBg="1"/>
    </p:bld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-marker"/>
          <p:cNvSpPr txBox="1"/>
          <p:nvPr/>
        </p:nvSpPr>
        <p:spPr>
          <a:xfrm>
            <a:off x="609600" y="381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2000" b="1">
                <a:solidFill>
                  <a:srgbClr val="C8102E"/>
                </a:solidFill>
                <a:latin typeface="Segoe UI"/>
                <a:ea typeface="Microsoft YaHei"/>
              </a:rPr>
              <a:t>❯</a:t>
            </a:r>
          </a:p>
        </p:txBody>
      </p:sp>
      <p:sp>
        <p:nvSpPr>
          <p:cNvPr id="3" name="hd-title"/>
          <p:cNvSpPr txBox="1"/>
          <p:nvPr/>
        </p:nvSpPr>
        <p:spPr>
          <a:xfrm>
            <a:off x="914400" y="381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2400" b="1">
                <a:solidFill>
                  <a:srgbClr val="C8102E"/>
                </a:solidFill>
                <a:latin typeface="Segoe UI"/>
                <a:ea typeface="Microsoft YaHei"/>
              </a:rPr>
              <a:t>营收持续增长，研发投入强度保持行业高位</a:t>
            </a:r>
          </a:p>
        </p:txBody>
      </p:sp>
      <p:sp>
        <p:nvSpPr>
          <p:cNvPr id="4" name="hd-subtitle"/>
          <p:cNvSpPr txBox="1"/>
          <p:nvPr/>
        </p:nvSpPr>
        <p:spPr>
          <a:xfrm>
            <a:off x="914400" y="787400"/>
            <a:ext cx="10668000" cy="2032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100" b="0">
                <a:solidFill>
                  <a:srgbClr val="595959"/>
                </a:solidFill>
                <a:latin typeface="Segoe UI"/>
                <a:ea typeface="Microsoft YaHei"/>
              </a:rPr>
              <a:t>2023 年经营与研发投入核心指标</a:t>
            </a:r>
          </a:p>
        </p:txBody>
      </p:sp>
      <p:sp>
        <p:nvSpPr>
          <p:cNvPr id="5" name="hd-rule"/>
          <p:cNvSpPr txBox="0"/>
          <p:nvPr/>
        </p:nvSpPr>
        <p:spPr>
          <a:xfrm>
            <a:off x="609600" y="1143000"/>
            <a:ext cx="109728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6" name="kpi-1"/>
          <p:cNvSpPr txBox="0"/>
          <p:nvPr/>
        </p:nvSpPr>
        <p:spPr>
          <a:xfrm>
            <a:off x="609600" y="1473200"/>
            <a:ext cx="3454400" cy="1498600"/>
          </a:xfrm>
          <a:prstGeom prst="rect">
            <a:avLst/>
          </a:prstGeom>
          <a:solidFill>
            <a:srgbClr val="F5F7F8"/>
          </a:solidFill>
          <a:ln>
            <a:noFill/>
          </a:ln>
        </p:spPr>
      </p:sp>
      <p:sp>
        <p:nvSpPr>
          <p:cNvPr id="7" name="kpi-1-num"/>
          <p:cNvSpPr txBox="1"/>
          <p:nvPr/>
        </p:nvSpPr>
        <p:spPr>
          <a:xfrm>
            <a:off x="863600" y="1651000"/>
            <a:ext cx="2946400" cy="635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4400" b="1">
                <a:solidFill>
                  <a:srgbClr val="C8102E"/>
                </a:solidFill>
                <a:latin typeface="Segoe UI"/>
                <a:ea typeface="Microsoft YaHei"/>
              </a:rPr>
              <a:t>349.3</a:t>
            </a:r>
            <a:r>
              <a:rPr lang="zh-CN" altLang="en-US" sz="1600" b="1">
                <a:solidFill>
                  <a:srgbClr val="C8102E"/>
                </a:solidFill>
                <a:latin typeface="Segoe UI"/>
                <a:ea typeface="Microsoft YaHei"/>
              </a:rPr>
              <a:t> 亿元</a:t>
            </a:r>
          </a:p>
        </p:txBody>
      </p:sp>
      <p:sp>
        <p:nvSpPr>
          <p:cNvPr id="8" name="kpi-1-cap"/>
          <p:cNvSpPr txBox="1"/>
          <p:nvPr/>
        </p:nvSpPr>
        <p:spPr>
          <a:xfrm>
            <a:off x="863600" y="2362200"/>
            <a:ext cx="2946400" cy="4572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1000" b="0">
                <a:solidFill>
                  <a:srgbClr val="595959"/>
                </a:solidFill>
                <a:latin typeface="Segoe UI"/>
                <a:ea typeface="Microsoft YaHei"/>
              </a:rPr>
              <a:t>2023 年营业收入（同比 +15.0%）</a:t>
            </a:r>
          </a:p>
        </p:txBody>
      </p:sp>
      <p:sp>
        <p:nvSpPr>
          <p:cNvPr id="9" name="kpi-2"/>
          <p:cNvSpPr txBox="0"/>
          <p:nvPr/>
        </p:nvSpPr>
        <p:spPr>
          <a:xfrm>
            <a:off x="4368800" y="1473200"/>
            <a:ext cx="3454400" cy="1498600"/>
          </a:xfrm>
          <a:prstGeom prst="rect">
            <a:avLst/>
          </a:prstGeom>
          <a:solidFill>
            <a:srgbClr val="F5F7F8"/>
          </a:solidFill>
          <a:ln>
            <a:noFill/>
          </a:ln>
        </p:spPr>
      </p:sp>
      <p:sp>
        <p:nvSpPr>
          <p:cNvPr id="10" name="kpi-2-num"/>
          <p:cNvSpPr txBox="1"/>
          <p:nvPr/>
        </p:nvSpPr>
        <p:spPr>
          <a:xfrm>
            <a:off x="4622800" y="1651000"/>
            <a:ext cx="2946400" cy="635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4400" b="1">
                <a:solidFill>
                  <a:srgbClr val="C8102E"/>
                </a:solidFill>
                <a:latin typeface="Segoe UI"/>
                <a:ea typeface="Microsoft YaHei"/>
              </a:rPr>
              <a:t>190+</a:t>
            </a:r>
          </a:p>
        </p:txBody>
      </p:sp>
      <p:sp>
        <p:nvSpPr>
          <p:cNvPr id="11" name="kpi-2-cap"/>
          <p:cNvSpPr txBox="1"/>
          <p:nvPr/>
        </p:nvSpPr>
        <p:spPr>
          <a:xfrm>
            <a:off x="4622800" y="2362200"/>
            <a:ext cx="2946400" cy="4572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1000" b="0">
                <a:solidFill>
                  <a:srgbClr val="595959"/>
                </a:solidFill>
                <a:latin typeface="Segoe UI"/>
                <a:ea typeface="Microsoft YaHei"/>
              </a:rPr>
              <a:t>产品与服务覆盖的国家和地区</a:t>
            </a:r>
          </a:p>
        </p:txBody>
      </p:sp>
      <p:sp>
        <p:nvSpPr>
          <p:cNvPr id="12" name="kpi-3"/>
          <p:cNvSpPr txBox="0"/>
          <p:nvPr/>
        </p:nvSpPr>
        <p:spPr>
          <a:xfrm>
            <a:off x="8128000" y="1473200"/>
            <a:ext cx="3454400" cy="1498600"/>
          </a:xfrm>
          <a:prstGeom prst="rect">
            <a:avLst/>
          </a:prstGeom>
          <a:solidFill>
            <a:srgbClr val="F5F7F8"/>
          </a:solidFill>
          <a:ln>
            <a:noFill/>
          </a:ln>
        </p:spPr>
      </p:sp>
      <p:sp>
        <p:nvSpPr>
          <p:cNvPr id="13" name="kpi-3-num"/>
          <p:cNvSpPr txBox="1"/>
          <p:nvPr/>
        </p:nvSpPr>
        <p:spPr>
          <a:xfrm>
            <a:off x="8382000" y="1651000"/>
            <a:ext cx="2946400" cy="635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4400" b="1">
                <a:solidFill>
                  <a:srgbClr val="C8102E"/>
                </a:solidFill>
                <a:latin typeface="Segoe UI"/>
                <a:ea typeface="Microsoft YaHei"/>
              </a:rPr>
              <a:t>37.8</a:t>
            </a:r>
            <a:r>
              <a:rPr lang="zh-CN" altLang="en-US" sz="1600" b="1">
                <a:solidFill>
                  <a:srgbClr val="C8102E"/>
                </a:solidFill>
                <a:latin typeface="Segoe UI"/>
                <a:ea typeface="Microsoft YaHei"/>
              </a:rPr>
              <a:t> 亿元</a:t>
            </a:r>
          </a:p>
        </p:txBody>
      </p:sp>
      <p:sp>
        <p:nvSpPr>
          <p:cNvPr id="14" name="kpi-3-cap"/>
          <p:cNvSpPr txBox="1"/>
          <p:nvPr/>
        </p:nvSpPr>
        <p:spPr>
          <a:xfrm>
            <a:off x="8382000" y="2362200"/>
            <a:ext cx="2946400" cy="4572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1000" b="0">
                <a:solidFill>
                  <a:srgbClr val="595959"/>
                </a:solidFill>
                <a:latin typeface="Segoe UI"/>
                <a:ea typeface="Microsoft YaHei"/>
              </a:rPr>
              <a:t>2023 年研发投入（约占营收 10.8%）</a:t>
            </a:r>
          </a:p>
        </p:txBody>
      </p:sp>
      <p:sp>
        <p:nvSpPr>
          <p:cNvPr id="15" name="chart-title"/>
          <p:cNvSpPr txBox="1"/>
          <p:nvPr/>
        </p:nvSpPr>
        <p:spPr>
          <a:xfrm>
            <a:off x="609600" y="3098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050" b="1">
                <a:solidFill>
                  <a:srgbClr val="1A1A1A"/>
                </a:solidFill>
                <a:latin typeface="Segoe UI"/>
                <a:ea typeface="Microsoft YaHei"/>
              </a:rPr>
              <a:t>营业收入（亿元）</a:t>
            </a:r>
          </a:p>
        </p:txBody>
      </p:sp>
      <p:sp>
        <p:nvSpPr>
          <p:cNvPr id="1600" name="bar-0"/>
          <p:cNvSpPr txBox="0"/>
          <p:nvPr/>
        </p:nvSpPr>
        <p:spPr>
          <a:xfrm>
            <a:off x="1158240" y="4047177"/>
            <a:ext cx="1554480" cy="1185223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lIns="0" rIns="0" tIns="0" bIns="0" wrap="none" anchor="ctr"/>
          <a:lstStyle/>
          <a:p>
            <a:pPr algn="ctr"/>
            <a:r>
              <a:rPr lang="zh-CN" sz="1000" b="1">
                <a:solidFill>
                  <a:srgbClr val="FFFFFF"/>
                </a:solidFill>
                <a:ea typeface="Microsoft YaHei"/>
              </a:rPr>
              <a:t>252.7</a:t>
            </a:r>
          </a:p>
        </p:txBody>
      </p:sp>
      <p:sp>
        <p:nvSpPr>
          <p:cNvPr id="1650" name="lbl-0"/>
          <p:cNvSpPr txBox="1"/>
          <p:nvPr/>
        </p:nvSpPr>
        <p:spPr>
          <a:xfrm>
            <a:off x="1158240" y="528320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anchor="t"/>
          <a:lstStyle/>
          <a:p>
            <a:pPr algn="ctr"/>
            <a:r>
              <a:rPr lang="zh-CN" sz="900">
                <a:solidFill>
                  <a:srgbClr val="595959"/>
                </a:solidFill>
                <a:ea typeface="Microsoft YaHei"/>
              </a:rPr>
              <a:t>2021</a:t>
            </a:r>
          </a:p>
        </p:txBody>
      </p:sp>
      <p:sp>
        <p:nvSpPr>
          <p:cNvPr id="1601" name="bar-1"/>
          <p:cNvSpPr txBox="0"/>
          <p:nvPr/>
        </p:nvSpPr>
        <p:spPr>
          <a:xfrm>
            <a:off x="3261360" y="3807975"/>
            <a:ext cx="1554480" cy="142442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lIns="0" rIns="0" tIns="0" bIns="0" wrap="none" anchor="ctr"/>
          <a:lstStyle/>
          <a:p>
            <a:pPr algn="ctr"/>
            <a:r>
              <a:rPr lang="zh-CN" sz="1000" b="1">
                <a:solidFill>
                  <a:srgbClr val="FFFFFF"/>
                </a:solidFill>
                <a:ea typeface="Microsoft YaHei"/>
              </a:rPr>
              <a:t>303.7</a:t>
            </a:r>
          </a:p>
        </p:txBody>
      </p:sp>
      <p:sp>
        <p:nvSpPr>
          <p:cNvPr id="1651" name="lbl-1"/>
          <p:cNvSpPr txBox="1"/>
          <p:nvPr/>
        </p:nvSpPr>
        <p:spPr>
          <a:xfrm>
            <a:off x="3261360" y="528320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anchor="t"/>
          <a:lstStyle/>
          <a:p>
            <a:pPr algn="ctr"/>
            <a:r>
              <a:rPr lang="zh-CN" sz="900">
                <a:solidFill>
                  <a:srgbClr val="595959"/>
                </a:solidFill>
                <a:ea typeface="Microsoft YaHei"/>
              </a:rPr>
              <a:t>2022</a:t>
            </a:r>
          </a:p>
        </p:txBody>
      </p:sp>
      <p:sp>
        <p:nvSpPr>
          <p:cNvPr id="1602" name="bar-2"/>
          <p:cNvSpPr txBox="0"/>
          <p:nvPr/>
        </p:nvSpPr>
        <p:spPr>
          <a:xfrm>
            <a:off x="5364480" y="3594100"/>
            <a:ext cx="1554480" cy="16383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lIns="0" rIns="0" tIns="0" bIns="0" wrap="none" anchor="ctr"/>
          <a:lstStyle/>
          <a:p>
            <a:pPr algn="ctr"/>
            <a:r>
              <a:rPr lang="zh-CN" sz="1000" b="1">
                <a:solidFill>
                  <a:srgbClr val="FFFFFF"/>
                </a:solidFill>
                <a:ea typeface="Microsoft YaHei"/>
              </a:rPr>
              <a:t>349.3</a:t>
            </a:r>
          </a:p>
        </p:txBody>
      </p:sp>
      <p:sp>
        <p:nvSpPr>
          <p:cNvPr id="1652" name="lbl-2"/>
          <p:cNvSpPr txBox="1"/>
          <p:nvPr/>
        </p:nvSpPr>
        <p:spPr>
          <a:xfrm>
            <a:off x="5364480" y="528320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anchor="t"/>
          <a:lstStyle/>
          <a:p>
            <a:pPr algn="ctr"/>
            <a:r>
              <a:rPr lang="zh-CN" sz="900">
                <a:solidFill>
                  <a:srgbClr val="595959"/>
                </a:solidFill>
                <a:ea typeface="Microsoft YaHei"/>
              </a:rPr>
              <a:t>2023</a:t>
            </a:r>
          </a:p>
        </p:txBody>
      </p:sp>
      <p:sp>
        <p:nvSpPr>
          <p:cNvPr id="17" name="read-panel"/>
          <p:cNvSpPr txBox="0"/>
          <p:nvPr/>
        </p:nvSpPr>
        <p:spPr>
          <a:xfrm>
            <a:off x="7772400" y="3327400"/>
            <a:ext cx="3810000" cy="2235200"/>
          </a:xfrm>
          <a:prstGeom prst="rect">
            <a:avLst/>
          </a:prstGeom>
          <a:solidFill>
            <a:srgbClr val="F5F7F8"/>
          </a:solidFill>
          <a:ln>
            <a:noFill/>
          </a:ln>
        </p:spPr>
      </p:sp>
      <p:sp>
        <p:nvSpPr>
          <p:cNvPr id="18" name="read-text"/>
          <p:cNvSpPr txBox="1"/>
          <p:nvPr/>
        </p:nvSpPr>
        <p:spPr>
          <a:xfrm>
            <a:off x="7975600" y="3479800"/>
            <a:ext cx="3403600" cy="19304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t"/>
          <a:lstStyle/>
          <a:p>
            <a:pPr algn="l"/>
            <a:r>
              <a:rPr lang="zh-CN" altLang="en-US" sz="1200" b="1">
                <a:solidFill>
                  <a:srgbClr val="C8102E"/>
                </a:solidFill>
                <a:latin typeface="Segoe UI"/>
                <a:ea typeface="Microsoft YaHei"/>
              </a:rPr>
              <a:t>解读</a:t>
            </a:r>
          </a:p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• 2021—2023 年营业收入复合增长约 17.6%</a:t>
            </a:r>
          </a:p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• 研发投入占营收比重连续保持 10% 以上</a:t>
            </a:r>
          </a:p>
          <a:p>
            <a:pPr algn="l"/>
            <a:r>
              <a:rPr lang="zh-CN" altLang="en-US" sz="1000" b="0">
                <a:solidFill>
                  <a:srgbClr val="1A1A1A"/>
                </a:solidFill>
                <a:latin typeface="Segoe UI"/>
                <a:ea typeface="Microsoft YaHei"/>
              </a:rPr>
              <a:t>• 国际化与高端化构成下一阶段增长主线</a:t>
            </a:r>
          </a:p>
        </p:txBody>
      </p:sp>
      <p:sp>
        <p:nvSpPr>
          <p:cNvPr id="19" name="takeaway-bar"/>
          <p:cNvSpPr txBox="0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0" name="takeaway-text"/>
          <p:cNvSpPr txBox="1"/>
          <p:nvPr/>
        </p:nvSpPr>
        <p:spPr>
          <a:xfrm>
            <a:off x="914400" y="57404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1100" b="1">
                <a:solidFill>
                  <a:srgbClr val="C8102E"/>
                </a:solidFill>
                <a:latin typeface="Segoe UI"/>
                <a:ea typeface="Microsoft YaHei"/>
              </a:rPr>
              <a:t>❯ </a:t>
            </a:r>
            <a:r>
              <a:rPr lang="zh-CN" altLang="en-US" sz="1100" b="0">
                <a:solidFill>
                  <a:srgbClr val="1A1A1A"/>
                </a:solidFill>
                <a:latin typeface="Segoe UI"/>
                <a:ea typeface="Microsoft YaHei"/>
              </a:rPr>
              <a:t>高强度研发投入支撑高端产品突破，国际市场打开第二增长曲线</a:t>
            </a:r>
          </a:p>
        </p:txBody>
      </p:sp>
      <p:sp>
        <p:nvSpPr>
          <p:cNvPr id="21" name="ft-source"/>
          <p:cNvSpPr txBox="1"/>
          <p:nvPr/>
        </p:nvSpPr>
        <p:spPr>
          <a:xfrm>
            <a:off x="609600" y="6502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l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数据来源：迈瑞医疗 2023 年年度报告</a:t>
            </a:r>
          </a:p>
        </p:txBody>
      </p:sp>
      <p:sp>
        <p:nvSpPr>
          <p:cNvPr id="22" name="ft-pagenum"/>
          <p:cNvSpPr txBox="1"/>
          <p:nvPr/>
        </p:nvSpPr>
        <p:spPr>
          <a:xfrm>
            <a:off x="9347200" y="6502400"/>
            <a:ext cx="812800" cy="177800"/>
          </a:xfrm>
          <a:prstGeom prst="rect">
            <a:avLst/>
          </a:prstGeom>
          <a:noFill/>
          <a:ln>
            <a:noFill/>
          </a:ln>
        </p:spPr>
        <p:txBody>
          <a:bodyPr lIns="20000" rIns="20000" tIns="10000" bIns="10000" wrap="square" anchor="ctr"/>
          <a:lstStyle/>
          <a:p>
            <a:pPr algn="r"/>
            <a:r>
              <a:rPr lang="zh-CN" altLang="en-US" sz="900" b="0">
                <a:solidFill>
                  <a:srgbClr val="8C8C8C"/>
                </a:solidFill>
                <a:latin typeface="Segoe UI"/>
                <a:ea typeface="Microsoft YaHei"/>
              </a:rPr>
              <a:t>04 / 04</a:t>
            </a:r>
          </a:p>
        </p:txBody>
      </p:sp>
      <p:pic>
        <p:nvPicPr>
          <p:cNvPr id="23" name="ft-logo"/>
          <p:cNvPicPr/>
          <p:nvPr/>
        </p:nvPicPr>
        <p:blipFill>
          <a:blip r:embed="rIdImg_1"/>
          <a:stretch>
            <a:fillRect/>
          </a:stretch>
        </p:blipFill>
        <p:spPr>
          <a:xfrm>
            <a:off x="10312400" y="6388100"/>
            <a:ext cx="1320800" cy="2921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fast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4" decel="10000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40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20"/>
                      </p:stCondLst>
                      <p:childTnLst>
                        <p:par>
                          <p:cTn id="8" presetID="2" presetClass="entr" presetSubtype="4" decel="100000" fill="hold" grpId="1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0" dur="40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240"/>
                      </p:stCondLst>
                      <p:childTnLst>
                        <p:par>
                          <p:cTn id="12" presetID="2" presetClass="entr" presetSubtype="4" decel="100000" fill="hold" grpId="2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14" dur="40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200"/>
                      </p:stCondLst>
                      <p:childTnLst>
                        <p:par>
                          <p:cTn id="16" presetID="10" presetClass="entr" presetSubtype="0" fill="hold" grpId="3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400"/>
                      </p:stCondLst>
                      <p:childTnLst>
                        <p:par>
                          <p:cTn id="20" presetID="10" presetClass="entr" presetSubtype="0" fill="hold" grpId="4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1" animBg="1"/>
      <p:bldP spid="12" grpId="2" animBg="1"/>
      <p:bldP spid="17" grpId="3" animBg="1"/>
      <p:bldP spid="19" grpId="4" animBg="1"/>
    </p:bldLst>
  </p:timing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18</Slides>
</Properties>
</file>

<file path=docProps/core.xml><?xml version="1.0" encoding="utf-8"?>
<cp:coreProperties xmlns:cp="http://schemas.openxmlformats.org/package/2006/metadata/core-properties" xmlns:dc="http://purl.org/dc/elements/1.1/">
  <dc:title>DJI Osmo Pocket 4 产品深度解读</dc:title>
  <dc:subject>DJI Osmo Pocket 4 产品深度解读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{"Label":"DJI Osmo Pocket 4 产品深度解读","ContentProducer":"001191110108MACG2KBH8F10000","ProduceID":"dji-pocket4","ReservedCode1":"","ContentPropagator":"001191110108MACG2KBH8F20000","PropagateID":"","ReservedCode2":""}</vt:lpwstr>
  </property>
</Properties>
</file>